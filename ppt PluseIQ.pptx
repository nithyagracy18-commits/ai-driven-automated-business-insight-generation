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803" r:id="rId3"/>
    <p:sldId id="833" r:id="rId5"/>
    <p:sldId id="824" r:id="rId6"/>
    <p:sldId id="828" r:id="rId7"/>
    <p:sldId id="837" r:id="rId8"/>
    <p:sldId id="805" r:id="rId9"/>
    <p:sldId id="832" r:id="rId10"/>
    <p:sldId id="830" r:id="rId11"/>
    <p:sldId id="835" r:id="rId12"/>
    <p:sldId id="836" r:id="rId13"/>
    <p:sldId id="83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23" autoAdjust="0"/>
    <p:restoredTop sz="94660"/>
  </p:normalViewPr>
  <p:slideViewPr>
    <p:cSldViewPr snapToGrid="0">
      <p:cViewPr varScale="1">
        <p:scale>
          <a:sx n="55" d="100"/>
          <a:sy n="55" d="100"/>
        </p:scale>
        <p:origin x="70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50" d="100"/>
          <a:sy n="150" d="100"/>
        </p:scale>
        <p:origin x="432" y="-14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84CAE8-38D5-461C-80C4-1AF2B758DADD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8D782-C295-45AF-8CC4-5EB981288A9F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" name="Google Shape;10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  <a:endParaRPr lang="en-IN" dirty="0"/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  <a:endParaRPr lang="en-IN" dirty="0"/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  <a:endParaRPr lang="en-IN" dirty="0"/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  <a:endParaRPr lang="en-IN" dirty="0"/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  <a:endParaRPr lang="en-IN" dirty="0"/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  <a:endParaRPr lang="en-IN" dirty="0"/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  <a:endParaRPr lang="en-IN" dirty="0"/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White">
  <p:cSld name="Cover Whit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 descr="C:\Users\Admin\Downloads\ilovepdf_pages-to-jpg (1)\RU_PPT Template-White Blank_page-0001.jp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1" y="0"/>
            <a:ext cx="1219319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685800" y="5880100"/>
            <a:ext cx="3422650" cy="9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8769350" y="5486400"/>
            <a:ext cx="3422650" cy="9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19" name="Google Shape;19;p2"/>
          <p:cNvGrpSpPr/>
          <p:nvPr/>
        </p:nvGrpSpPr>
        <p:grpSpPr>
          <a:xfrm>
            <a:off x="9220200" y="5410200"/>
            <a:ext cx="2601503" cy="1082742"/>
            <a:chOff x="10616154" y="97913"/>
            <a:chExt cx="3619726" cy="1349912"/>
          </a:xfrm>
        </p:grpSpPr>
        <p:pic>
          <p:nvPicPr>
            <p:cNvPr id="20" name="Google Shape;20;p2" descr="NIRF — SAVEETHA SCHOOL OF MANAGEMENT"/>
            <p:cNvPicPr preferRelativeResize="0"/>
            <p:nvPr/>
          </p:nvPicPr>
          <p:blipFill rotWithShape="1">
            <a:blip r:embed="rId3"/>
            <a:srcRect l="27517" t="4377" r="28920" b="7151"/>
            <a:stretch>
              <a:fillRect/>
            </a:stretch>
          </p:blipFill>
          <p:spPr>
            <a:xfrm>
              <a:off x="12122688" y="97913"/>
              <a:ext cx="843474" cy="5922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 descr="Bharath University - Top University In India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10737939" y="182966"/>
              <a:ext cx="1158298" cy="4308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2" descr="CREDISAPP for Ratings - Eloit"/>
            <p:cNvPicPr preferRelativeResize="0"/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13072901" y="114292"/>
              <a:ext cx="1155067" cy="5758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3;p2" descr="MHRD | Innovation Cell - Home"/>
            <p:cNvPicPr preferRelativeResize="0"/>
            <p:nvPr/>
          </p:nvPicPr>
          <p:blipFill rotWithShape="1">
            <a:blip r:embed="rId6"/>
            <a:srcRect/>
            <a:stretch>
              <a:fillRect/>
            </a:stretch>
          </p:blipFill>
          <p:spPr>
            <a:xfrm>
              <a:off x="10616154" y="789734"/>
              <a:ext cx="1857797" cy="6580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4;p2" descr="Institution's Innovation Council | MHRD"/>
            <p:cNvPicPr preferRelativeResize="0"/>
            <p:nvPr/>
          </p:nvPicPr>
          <p:blipFill rotWithShape="1">
            <a:blip r:embed="rId7"/>
            <a:srcRect l="8879" t="20720" r="8879" b="24345"/>
            <a:stretch>
              <a:fillRect/>
            </a:stretch>
          </p:blipFill>
          <p:spPr>
            <a:xfrm>
              <a:off x="12886182" y="774201"/>
              <a:ext cx="1349698" cy="63758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" name="Google Shape;25;p2"/>
          <p:cNvSpPr txBox="1">
            <a:spLocks noGrp="1"/>
          </p:cNvSpPr>
          <p:nvPr>
            <p:ph type="title"/>
          </p:nvPr>
        </p:nvSpPr>
        <p:spPr>
          <a:xfrm>
            <a:off x="1058553" y="3124200"/>
            <a:ext cx="8421823" cy="175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4000"/>
              <a:buFont typeface="Roboto Medium"/>
              <a:buNone/>
              <a:defRPr sz="4000" b="0" i="0" u="none" strike="noStrike" cap="none">
                <a:solidFill>
                  <a:srgbClr val="FF66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2"/>
          <p:cNvSpPr txBox="1">
            <a:spLocks noGrp="1"/>
          </p:cNvSpPr>
          <p:nvPr>
            <p:ph type="body" idx="1"/>
          </p:nvPr>
        </p:nvSpPr>
        <p:spPr>
          <a:xfrm>
            <a:off x="1046572" y="5129788"/>
            <a:ext cx="6755716" cy="407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500"/>
              <a:buFont typeface="Arial" panose="020B0604020202020204"/>
              <a:buNone/>
              <a:defRPr sz="2500" b="0" i="0" u="none" strike="noStrike" cap="none">
                <a:solidFill>
                  <a:srgbClr val="FF66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White">
  <p:cSld name="Agenda White">
    <p:bg>
      <p:bgPr>
        <a:solidFill>
          <a:schemeClr val="lt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3" descr="C:\Users\Admin\Downloads\ilovepdf_pages-to-jpg (3)\RU_PPT Template-White Blank (1)_page-0003.jp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2192000" cy="685733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11367146" y="6096000"/>
            <a:ext cx="5962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30" name="Google Shape;30;p3"/>
          <p:cNvSpPr txBox="1">
            <a:spLocks noGrp="1"/>
          </p:cNvSpPr>
          <p:nvPr>
            <p:ph type="title"/>
          </p:nvPr>
        </p:nvSpPr>
        <p:spPr>
          <a:xfrm>
            <a:off x="695400" y="395786"/>
            <a:ext cx="6211927" cy="838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Roboto Medium"/>
              <a:buNone/>
              <a:defRPr sz="28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3"/>
          <p:cNvSpPr txBox="1">
            <a:spLocks noGrp="1"/>
          </p:cNvSpPr>
          <p:nvPr>
            <p:ph type="body" idx="1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 panose="020B0604020202020204"/>
              <a:buAutoNum type="arabicPeriod"/>
              <a:defRPr sz="24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 panose="020B0604020202020204"/>
              <a:buAutoNum type="arabicPeriod"/>
              <a:defRPr sz="24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 Slid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" name="Google Shape;35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 Head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7" name="Google Shape;4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Comparison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60" name="Google Shape;60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62" name="Google Shape;62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 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Content with Caption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 with Capti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6" name="Google Shape;8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Title and Vertical 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 Title and Tex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/>
        </p:nvSpPr>
        <p:spPr>
          <a:xfrm>
            <a:off x="138896" y="4308654"/>
            <a:ext cx="10961226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	</a:t>
            </a:r>
            <a:r>
              <a:rPr lang="en-US" sz="3200" dirty="0" err="1"/>
              <a:t>PulseIQ</a:t>
            </a:r>
            <a:r>
              <a:rPr lang="en-US" sz="3200" dirty="0"/>
              <a:t> – AI-Driven Autonomous Business Intelligence  and Predictive Analytics System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1569910" y="2804655"/>
            <a:ext cx="9838762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School of Compu</a:t>
            </a:r>
            <a:r>
              <a:rPr lang="en-US" sz="3600" b="1" kern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ter Science &amp; Engineering</a:t>
            </a:r>
            <a:endParaRPr lang="en-US" sz="3600" b="1" kern="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AI </a:t>
            </a: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Application Development – IA1 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400" y="395786"/>
            <a:ext cx="7937961" cy="838202"/>
          </a:xfrm>
        </p:spPr>
        <p:txBody>
          <a:bodyPr/>
          <a:lstStyle/>
          <a:p>
            <a:r>
              <a:rPr lang="en-US" dirty="0">
                <a:ea typeface="Calibri" panose="020F0502020204030204"/>
                <a:cs typeface="Calibri" panose="020F0502020204030204"/>
              </a:rPr>
              <a:t>Team members &amp; roles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177446" y="1233989"/>
          <a:ext cx="9832932" cy="43218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6466"/>
                <a:gridCol w="4916466"/>
              </a:tblGrid>
              <a:tr h="689339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Team member name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 Role</a:t>
                      </a:r>
                      <a:endParaRPr lang="en-IN" sz="2000" dirty="0"/>
                    </a:p>
                  </a:txBody>
                  <a:tcPr/>
                </a:tc>
              </a:tr>
              <a:tr h="689339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/>
                        <a:t>Prakruthi 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/>
                        <a:t>Team Lead</a:t>
                      </a:r>
                      <a:endParaRPr lang="en-IN" dirty="0"/>
                    </a:p>
                  </a:txBody>
                  <a:tcPr/>
                </a:tc>
              </a:tr>
              <a:tr h="689339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/>
                        <a:t>Bhumika B 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/>
                        <a:t>Customer Contact Lead</a:t>
                      </a:r>
                      <a:endParaRPr lang="en-IN" dirty="0"/>
                    </a:p>
                  </a:txBody>
                  <a:tcPr/>
                </a:tc>
              </a:tr>
              <a:tr h="689339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/>
                        <a:t>Nithya 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/>
                        <a:t>Development Lead</a:t>
                      </a:r>
                      <a:endParaRPr lang="en-IN" dirty="0"/>
                    </a:p>
                  </a:txBody>
                  <a:tcPr/>
                </a:tc>
              </a:tr>
              <a:tr h="8751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IN" dirty="0"/>
                        <a:t>Yashaswi B M 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/>
                        <a:t>Marketing Lead</a:t>
                      </a:r>
                      <a:endParaRPr lang="en-IN" dirty="0"/>
                    </a:p>
                  </a:txBody>
                  <a:tcPr/>
                </a:tc>
              </a:tr>
              <a:tr h="68933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400" y="395786"/>
            <a:ext cx="7937961" cy="838202"/>
          </a:xfrm>
        </p:spPr>
        <p:txBody>
          <a:bodyPr/>
          <a:lstStyle/>
          <a:p>
            <a:r>
              <a:rPr lang="en-US" dirty="0">
                <a:ea typeface="Calibri" panose="020F0502020204030204"/>
                <a:cs typeface="Calibri" panose="020F0502020204030204"/>
              </a:rPr>
              <a:t> 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1004160" y="1595806"/>
            <a:ext cx="10519785" cy="3790386"/>
          </a:xfrm>
        </p:spPr>
        <p:txBody>
          <a:bodyPr spcFirstLastPara="1" vert="horz" wrap="square" lIns="121920" tIns="60960" rIns="121920" bIns="60960" rtlCol="0" anchor="t" anchorCtr="0"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25"/>
              </a:spcBef>
              <a:buNone/>
            </a:pPr>
            <a:r>
              <a:rPr lang="en-US" dirty="0">
                <a:solidFill>
                  <a:schemeClr val="tx1"/>
                </a:solidFill>
              </a:rPr>
              <a:t>Small businesses struggle to convert raw sales data into actionable insights. Manual analysis is time-consuming, error-prone, and leads to poor business decisions</a:t>
            </a:r>
            <a:r>
              <a:rPr lang="en-US" dirty="0"/>
              <a:t>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spcBef>
                <a:spcPts val="25"/>
              </a:spcBef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spcBef>
                <a:spcPts val="25"/>
              </a:spcBef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392" y="56166"/>
            <a:ext cx="7937961" cy="838202"/>
          </a:xfrm>
        </p:spPr>
        <p:txBody>
          <a:bodyPr/>
          <a:lstStyle/>
          <a:p>
            <a:r>
              <a:rPr lang="en-US" dirty="0">
                <a:ea typeface="Calibri" panose="020F0502020204030204"/>
                <a:cs typeface="Calibri" panose="020F0502020204030204"/>
              </a:rPr>
              <a:t> User/ Customer Understanding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1004160" y="1595806"/>
            <a:ext cx="10519785" cy="3790386"/>
          </a:xfrm>
        </p:spPr>
        <p:txBody>
          <a:bodyPr spcFirstLastPara="1" vert="horz" wrap="square" lIns="121920" tIns="60960" rIns="121920" bIns="60960" rtlCol="0" anchor="t" anchorCtr="0">
            <a:normAutofit/>
          </a:bodyPr>
          <a:lstStyle/>
          <a:p>
            <a:pPr marL="0" indent="0">
              <a:spcBef>
                <a:spcPts val="25"/>
              </a:spcBef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spcBef>
                <a:spcPts val="25"/>
              </a:spcBef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spcBef>
                <a:spcPts val="25"/>
              </a:spcBef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spcBef>
                <a:spcPts val="25"/>
              </a:spcBef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68350" y="72548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sz="1600" b="1">
                <a:solidFill>
                  <a:srgbClr val="000000"/>
                </a:solidFill>
                <a:latin typeface="Aptos"/>
                <a:ea typeface="Aptos"/>
              </a:rPr>
              <a:t>Survey on google form</a:t>
            </a:r>
            <a:endParaRPr sz="1600" b="1">
              <a:solidFill>
                <a:srgbClr val="000000"/>
              </a:solidFill>
              <a:latin typeface="Aptos"/>
              <a:ea typeface="Aptos"/>
            </a:endParaRPr>
          </a:p>
        </p:txBody>
      </p:sp>
      <p:grpSp>
        <p:nvGrpSpPr>
          <p:cNvPr id="3006" name="Group 3006"/>
          <p:cNvGrpSpPr/>
          <p:nvPr/>
        </p:nvGrpSpPr>
        <p:grpSpPr>
          <a:xfrm>
            <a:off x="768350" y="1162050"/>
            <a:ext cx="10908030" cy="5245690"/>
            <a:chOff x="0" y="0"/>
            <a:chExt cx="5731510" cy="5245862"/>
          </a:xfrm>
        </p:grpSpPr>
        <p:pic>
          <p:nvPicPr>
            <p:cNvPr id="354" name="Picture 354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5731510" cy="2719705"/>
            </a:xfrm>
            <a:prstGeom prst="rect">
              <a:avLst/>
            </a:prstGeom>
          </p:spPr>
        </p:pic>
        <p:pic>
          <p:nvPicPr>
            <p:cNvPr id="356" name="Picture 356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0" y="2839212"/>
              <a:ext cx="5731510" cy="24066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365" name="Picture 365"/>
          <p:cNvPicPr/>
          <p:nvPr/>
        </p:nvPicPr>
        <p:blipFill>
          <a:blip r:embed="rId1"/>
          <a:stretch>
            <a:fillRect/>
          </a:stretch>
        </p:blipFill>
        <p:spPr>
          <a:xfrm>
            <a:off x="695325" y="395605"/>
            <a:ext cx="11243310" cy="55568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 panose="020F0502020204030204"/>
                <a:cs typeface="Calibri" panose="020F0502020204030204"/>
              </a:rPr>
              <a:t>Ideal Customer Profile (ICP)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95400" y="1233988"/>
            <a:ext cx="10801201" cy="4860428"/>
          </a:xfrm>
        </p:spPr>
        <p:txBody>
          <a:bodyPr spcFirstLastPara="1" vert="horz" wrap="square" lIns="121920" tIns="60960" rIns="121920" bIns="60960" rtlCol="0" anchor="t" anchorCtr="0">
            <a:normAutofit lnSpcReduction="10000"/>
          </a:bodyPr>
          <a:lstStyle/>
          <a:p>
            <a:pPr marL="7620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ea typeface="Calibri" panose="020F0502020204030204"/>
                <a:cs typeface="Calibri" panose="020F0502020204030204"/>
              </a:rPr>
              <a:t>1. </a:t>
            </a:r>
            <a:r>
              <a:rPr lang="en-IN" b="1" dirty="0">
                <a:solidFill>
                  <a:schemeClr val="tx1"/>
                </a:solidFill>
              </a:rPr>
              <a:t>Demographic (Firmographic):</a:t>
            </a:r>
            <a:endParaRPr lang="en-IN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Small businesses and startups </a:t>
            </a:r>
            <a:r>
              <a:rPr lang="en-US" altLang="en-IN" dirty="0">
                <a:solidFill>
                  <a:schemeClr val="tx1"/>
                </a:solidFill>
              </a:rPr>
              <a:t>in online</a:t>
            </a:r>
            <a:endParaRPr lang="en-IN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E-commerce, D2C brands </a:t>
            </a:r>
            <a:endParaRPr lang="en-IN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No dedicated data analytics team </a:t>
            </a:r>
            <a:endParaRPr lang="en-IN" dirty="0">
              <a:solidFill>
                <a:schemeClr val="tx1"/>
              </a:solidFill>
            </a:endParaRPr>
          </a:p>
          <a:p>
            <a:pPr marL="76200" indent="0" algn="just">
              <a:lnSpc>
                <a:spcPct val="150000"/>
              </a:lnSpc>
              <a:buNone/>
            </a:pPr>
            <a:r>
              <a:rPr lang="en-IN" b="1" dirty="0">
                <a:solidFill>
                  <a:schemeClr val="tx1"/>
                </a:solidFill>
              </a:rPr>
              <a:t>2.  Psychographic:</a:t>
            </a:r>
            <a:endParaRPr lang="en-IN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Time-constrained business owners </a:t>
            </a:r>
            <a:endParaRPr lang="en-IN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Struggle with data analysis </a:t>
            </a:r>
            <a:endParaRPr lang="en-IN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Prefer simple, automated solutions </a:t>
            </a:r>
            <a:endParaRPr lang="en-IN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Open to AI-based tools</a:t>
            </a:r>
            <a:endParaRPr lang="en-IN" dirty="0">
              <a:solidFill>
                <a:schemeClr val="tx1"/>
              </a:solidFill>
            </a:endParaRPr>
          </a:p>
          <a:p>
            <a:pPr marL="0" indent="0">
              <a:spcBef>
                <a:spcPts val="25"/>
              </a:spcBef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 panose="020F0502020204030204"/>
                <a:cs typeface="Calibri" panose="020F0502020204030204"/>
              </a:rPr>
              <a:t> Product USP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95400" y="1233988"/>
            <a:ext cx="10801201" cy="4252412"/>
          </a:xfrm>
        </p:spPr>
        <p:txBody>
          <a:bodyPr spcFirstLastPara="1" vert="horz" wrap="square" lIns="121920" tIns="60960" rIns="121920" bIns="60960" rtlCol="0" anchor="t" anchorCtr="0">
            <a:normAutofit/>
          </a:bodyPr>
          <a:lstStyle/>
          <a:p>
            <a:pPr marL="0" indent="0">
              <a:spcBef>
                <a:spcPts val="25"/>
              </a:spcBef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Converts raw data into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plain-English insights instantly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Requires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zero coding knowledge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Affordable solution using free AI tools 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Provides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actionable recommendations, not just dashboard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spcBef>
                <a:spcPts val="25"/>
              </a:spcBef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 panose="020F0502020204030204"/>
                <a:cs typeface="Calibri" panose="020F0502020204030204"/>
              </a:rPr>
              <a:t> Use Cases &amp; High level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838200" y="1690688"/>
            <a:ext cx="5181600" cy="4486275"/>
          </a:xfrm>
        </p:spPr>
        <p:txBody>
          <a:bodyPr spcFirstLastPara="1" vert="horz" wrap="square" lIns="121920" tIns="60960" rIns="121920" bIns="60960" rtlCol="0" anchor="t" anchorCtr="0">
            <a:normAutofit fontScale="85000" lnSpcReduction="20000"/>
          </a:bodyPr>
          <a:lstStyle/>
          <a:p>
            <a:pPr marL="0" indent="0">
              <a:spcBef>
                <a:spcPts val="25"/>
              </a:spcBef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76200" indent="0" algn="just">
              <a:lnSpc>
                <a:spcPct val="170000"/>
              </a:lnSpc>
              <a:buNone/>
            </a:pPr>
            <a:r>
              <a:rPr lang="en-IN" b="1" dirty="0">
                <a:solidFill>
                  <a:schemeClr val="tx1"/>
                </a:solidFill>
              </a:rPr>
              <a:t>Use Cases:</a:t>
            </a:r>
            <a:endParaRPr lang="en-IN" b="1" dirty="0">
              <a:solidFill>
                <a:schemeClr val="tx1"/>
              </a:solidFill>
            </a:endParaRPr>
          </a:p>
          <a:p>
            <a:pPr marL="76200" indent="0" algn="just">
              <a:lnSpc>
                <a:spcPct val="170000"/>
              </a:lnSpc>
              <a:buNone/>
            </a:pPr>
            <a:r>
              <a:rPr lang="en-IN" dirty="0">
                <a:solidFill>
                  <a:schemeClr val="tx1"/>
                </a:solidFill>
              </a:rPr>
              <a:t>Upload sales data (CSV/Excel) </a:t>
            </a:r>
            <a:endParaRPr lang="en-IN" dirty="0">
              <a:solidFill>
                <a:schemeClr val="tx1"/>
              </a:solidFill>
            </a:endParaRPr>
          </a:p>
          <a:p>
            <a:pPr marL="76200" indent="0" algn="just">
              <a:lnSpc>
                <a:spcPct val="170000"/>
              </a:lnSpc>
              <a:buNone/>
            </a:pPr>
            <a:r>
              <a:rPr lang="en-IN" dirty="0" err="1">
                <a:solidFill>
                  <a:schemeClr val="tx1"/>
                </a:solidFill>
              </a:rPr>
              <a:t>Analyze</a:t>
            </a:r>
            <a:r>
              <a:rPr lang="en-IN" dirty="0">
                <a:solidFill>
                  <a:schemeClr val="tx1"/>
                </a:solidFill>
              </a:rPr>
              <a:t> business performance </a:t>
            </a:r>
            <a:endParaRPr lang="en-IN" dirty="0">
              <a:solidFill>
                <a:schemeClr val="tx1"/>
              </a:solidFill>
            </a:endParaRPr>
          </a:p>
          <a:p>
            <a:pPr marL="76200" indent="0" algn="just">
              <a:lnSpc>
                <a:spcPct val="170000"/>
              </a:lnSpc>
              <a:buNone/>
            </a:pPr>
            <a:r>
              <a:rPr lang="en-IN" dirty="0">
                <a:solidFill>
                  <a:schemeClr val="tx1"/>
                </a:solidFill>
              </a:rPr>
              <a:t>Generate AI insights </a:t>
            </a:r>
            <a:endParaRPr lang="en-IN" dirty="0">
              <a:solidFill>
                <a:schemeClr val="tx1"/>
              </a:solidFill>
            </a:endParaRPr>
          </a:p>
          <a:p>
            <a:pPr marL="76200" indent="0" algn="just">
              <a:lnSpc>
                <a:spcPct val="170000"/>
              </a:lnSpc>
              <a:buNone/>
            </a:pPr>
            <a:r>
              <a:rPr lang="en-IN" dirty="0">
                <a:solidFill>
                  <a:schemeClr val="tx1"/>
                </a:solidFill>
              </a:rPr>
              <a:t>Detect anomalies </a:t>
            </a:r>
            <a:endParaRPr lang="en-IN" dirty="0">
              <a:solidFill>
                <a:schemeClr val="tx1"/>
              </a:solidFill>
            </a:endParaRPr>
          </a:p>
          <a:p>
            <a:pPr marL="76200" indent="0" algn="just">
              <a:lnSpc>
                <a:spcPct val="170000"/>
              </a:lnSpc>
              <a:buNone/>
            </a:pPr>
            <a:r>
              <a:rPr lang="en-IN" dirty="0">
                <a:solidFill>
                  <a:schemeClr val="tx1"/>
                </a:solidFill>
              </a:rPr>
              <a:t>Download reports </a:t>
            </a:r>
            <a:endParaRPr lang="en-IN" dirty="0">
              <a:solidFill>
                <a:schemeClr val="tx1"/>
              </a:solidFill>
            </a:endParaRPr>
          </a:p>
          <a:p>
            <a:pPr marL="0" indent="0">
              <a:spcBef>
                <a:spcPts val="25"/>
              </a:spcBef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6172200" y="1498060"/>
            <a:ext cx="5181600" cy="4678903"/>
          </a:xfrm>
        </p:spPr>
        <p:txBody>
          <a:bodyPr>
            <a:normAutofit fontScale="67500" lnSpcReduction="20000"/>
          </a:bodyPr>
          <a:lstStyle/>
          <a:p>
            <a:pPr marL="76200" indent="0" algn="just">
              <a:lnSpc>
                <a:spcPct val="170000"/>
              </a:lnSpc>
              <a:buNone/>
            </a:pPr>
            <a:r>
              <a:rPr lang="en-IN" b="1" dirty="0">
                <a:solidFill>
                  <a:schemeClr val="tx1"/>
                </a:solidFill>
              </a:rPr>
              <a:t>Input:</a:t>
            </a:r>
            <a:endParaRPr lang="en-IN" b="1" dirty="0">
              <a:solidFill>
                <a:schemeClr val="tx1"/>
              </a:solidFill>
            </a:endParaRPr>
          </a:p>
          <a:p>
            <a:pPr marL="76200" indent="0" algn="just">
              <a:lnSpc>
                <a:spcPct val="170000"/>
              </a:lnSpc>
              <a:buNone/>
            </a:pPr>
            <a:r>
              <a:rPr lang="en-IN" dirty="0">
                <a:solidFill>
                  <a:schemeClr val="tx1"/>
                </a:solidFill>
              </a:rPr>
              <a:t>Sales data file </a:t>
            </a:r>
            <a:endParaRPr lang="en-IN" dirty="0">
              <a:solidFill>
                <a:schemeClr val="tx1"/>
              </a:solidFill>
            </a:endParaRPr>
          </a:p>
          <a:p>
            <a:pPr marL="76200" indent="0" algn="just">
              <a:lnSpc>
                <a:spcPct val="170000"/>
              </a:lnSpc>
              <a:buNone/>
            </a:pPr>
            <a:r>
              <a:rPr lang="en-IN" b="1" dirty="0">
                <a:solidFill>
                  <a:schemeClr val="tx1"/>
                </a:solidFill>
              </a:rPr>
              <a:t>Output:</a:t>
            </a:r>
            <a:endParaRPr lang="en-IN" b="1" dirty="0">
              <a:solidFill>
                <a:schemeClr val="tx1"/>
              </a:solidFill>
            </a:endParaRPr>
          </a:p>
          <a:p>
            <a:pPr marL="76200" indent="0" algn="just">
              <a:lnSpc>
                <a:spcPct val="170000"/>
              </a:lnSpc>
              <a:buNone/>
            </a:pPr>
            <a:r>
              <a:rPr lang="en-IN" dirty="0">
                <a:solidFill>
                  <a:schemeClr val="tx1"/>
                </a:solidFill>
              </a:rPr>
              <a:t>Business insights </a:t>
            </a:r>
            <a:r>
              <a:rPr lang="en-US" altLang="en-IN" dirty="0">
                <a:solidFill>
                  <a:schemeClr val="tx1"/>
                </a:solidFill>
              </a:rPr>
              <a:t>with native language voice</a:t>
            </a:r>
            <a:endParaRPr lang="en-IN" dirty="0">
              <a:solidFill>
                <a:schemeClr val="tx1"/>
              </a:solidFill>
            </a:endParaRPr>
          </a:p>
          <a:p>
            <a:pPr marL="76200" indent="0" algn="just">
              <a:lnSpc>
                <a:spcPct val="170000"/>
              </a:lnSpc>
              <a:buNone/>
            </a:pPr>
            <a:r>
              <a:rPr lang="en-IN" dirty="0">
                <a:solidFill>
                  <a:schemeClr val="tx1"/>
                </a:solidFill>
              </a:rPr>
              <a:t>Charts and Dashboard</a:t>
            </a:r>
            <a:endParaRPr lang="en-IN" dirty="0">
              <a:solidFill>
                <a:schemeClr val="tx1"/>
              </a:solidFill>
            </a:endParaRPr>
          </a:p>
          <a:p>
            <a:pPr marL="76200" indent="0" algn="just">
              <a:lnSpc>
                <a:spcPct val="170000"/>
              </a:lnSpc>
              <a:buNone/>
            </a:pPr>
            <a:r>
              <a:rPr lang="en-IN" dirty="0">
                <a:solidFill>
                  <a:schemeClr val="tx1"/>
                </a:solidFill>
              </a:rPr>
              <a:t>Recommendations </a:t>
            </a:r>
            <a:endParaRPr lang="en-IN" dirty="0">
              <a:solidFill>
                <a:schemeClr val="tx1"/>
              </a:solidFill>
            </a:endParaRPr>
          </a:p>
          <a:p>
            <a:pPr marL="76200" indent="0" algn="just">
              <a:lnSpc>
                <a:spcPct val="170000"/>
              </a:lnSpc>
              <a:buNone/>
            </a:pPr>
            <a:r>
              <a:rPr lang="en-IN" dirty="0">
                <a:solidFill>
                  <a:schemeClr val="tx1"/>
                </a:solidFill>
              </a:rPr>
              <a:t>PDF report</a:t>
            </a:r>
            <a:endParaRPr lang="en-IN" dirty="0">
              <a:solidFill>
                <a:schemeClr val="tx1"/>
              </a:solidFill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9286"/>
            <a:ext cx="12191999" cy="6348714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0" y="115747"/>
            <a:ext cx="9016678" cy="393539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Proof of Concept (PoC) / Prototype Demo</a:t>
            </a:r>
            <a:endParaRPr lang="en-IN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4294967295"/>
          </p:nvPr>
        </p:nvSpPr>
        <p:spPr>
          <a:xfrm>
            <a:off x="0" y="1773238"/>
            <a:ext cx="10801350" cy="2936875"/>
          </a:xfrm>
        </p:spPr>
        <p:txBody>
          <a:bodyPr spcFirstLastPara="1" vert="horz" wrap="square" lIns="121920" tIns="60960" rIns="121920" bIns="60960" rtlCol="0" anchor="t" anchorCtr="0">
            <a:normAutofit/>
          </a:bodyPr>
          <a:lstStyle/>
          <a:p>
            <a:pPr marL="0" indent="0">
              <a:spcBef>
                <a:spcPts val="25"/>
              </a:spcBef>
              <a:buNone/>
            </a:pPr>
            <a:endParaRPr lang="en-US" dirty="0"/>
          </a:p>
          <a:p>
            <a:pPr marL="0" indent="0">
              <a:spcBef>
                <a:spcPts val="25"/>
              </a:spcBef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1340</Words>
  <Application>WPS Presentation</Application>
  <PresentationFormat>Widescreen</PresentationFormat>
  <Paragraphs>87</Paragraphs>
  <Slides>11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SimSun</vt:lpstr>
      <vt:lpstr>Wingdings</vt:lpstr>
      <vt:lpstr>Calibri</vt:lpstr>
      <vt:lpstr>Arial</vt:lpstr>
      <vt:lpstr>Roboto Medium</vt:lpstr>
      <vt:lpstr>Segoe Print</vt:lpstr>
      <vt:lpstr>Times New Roman</vt:lpstr>
      <vt:lpstr>Aptos</vt:lpstr>
      <vt:lpstr>Segoe UI</vt:lpstr>
      <vt:lpstr>Microsoft YaHei</vt:lpstr>
      <vt:lpstr>Arial Unicode MS</vt:lpstr>
      <vt:lpstr>1_Office Theme</vt:lpstr>
      <vt:lpstr>PowerPoint 演示文稿</vt:lpstr>
      <vt:lpstr>Team members &amp; roles</vt:lpstr>
      <vt:lpstr> Problem Statement</vt:lpstr>
      <vt:lpstr> User/ Customer Understanding</vt:lpstr>
      <vt:lpstr>PowerPoint 演示文稿</vt:lpstr>
      <vt:lpstr>Ideal Customer Profile (ICP)</vt:lpstr>
      <vt:lpstr> Product USP</vt:lpstr>
      <vt:lpstr> Use Cases &amp; High level Requirements</vt:lpstr>
      <vt:lpstr>Proof of Concept (PoC) / Prototype Demo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Ramaraj Sri</dc:creator>
  <cp:lastModifiedBy>Nithya Gracy</cp:lastModifiedBy>
  <cp:revision>10</cp:revision>
  <dcterms:created xsi:type="dcterms:W3CDTF">2025-09-17T04:00:00Z</dcterms:created>
  <dcterms:modified xsi:type="dcterms:W3CDTF">2026-04-27T18:11:13Z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DC2B7502207948FC9F837C8995732BDA_12</vt:lpwstr>
  </property>
</Properties>
</file>